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43434"/>
    <a:srgbClr val="4D4D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286" autoAdjust="0"/>
    <p:restoredTop sz="94660"/>
  </p:normalViewPr>
  <p:slideViewPr>
    <p:cSldViewPr snapToGrid="0" showGuides="1">
      <p:cViewPr varScale="1">
        <p:scale>
          <a:sx n="73" d="100"/>
          <a:sy n="73" d="100"/>
        </p:scale>
        <p:origin x="276" y="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07F0C-AAE8-8C91-D798-7B0613E213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427646-BFA5-A0EA-ABEC-8DF2051B20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53B2F6-FDD8-BE59-F9A7-039E9F296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D8882-F948-4443-82DB-B1ADC06209F0}" type="datetimeFigureOut">
              <a:rPr lang="en-US" smtClean="0"/>
              <a:t>3/2/2023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A407E8-B3E8-2E48-A672-C2E4F7D8D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53EFE4-1210-6E42-815B-303001278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45E60-C76B-422F-BF61-934C804DD7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770255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DF921-5A75-489C-7253-0A2CFD7CB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B37BF-A3E4-0E9A-E09F-44C8815BF3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51D7F-07E1-493A-3791-E12FDF3EA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D8882-F948-4443-82DB-B1ADC06209F0}" type="datetimeFigureOut">
              <a:rPr lang="en-US" smtClean="0"/>
              <a:t>3/2/2023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93EFE3-5168-AC86-B99A-B44AF62EC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2033A7-5E2B-5642-1DD3-C26AAC721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45E60-C76B-422F-BF61-934C804DD7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950884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82AA7-D5EA-843E-B4AD-CE4F0C85A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AF3978-983C-2F8B-9B38-77AE68C6C2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6E0456-1676-AF11-718D-E6A318AEE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D8882-F948-4443-82DB-B1ADC06209F0}" type="datetimeFigureOut">
              <a:rPr lang="en-US" smtClean="0"/>
              <a:t>3/2/2023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8073B-A497-9064-554B-B140AED00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1CD0E4-DC25-F39A-5FCC-C7AAC719A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45E60-C76B-422F-BF61-934C804DD7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42660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7A98F-E7D4-37CB-2BE7-566B114B4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962FB-173A-6980-3971-125AF118A6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62E167-C6CC-5AF1-C4DE-587EBE0E1D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2834A1-BED8-5FCE-AA56-186C51509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D8882-F948-4443-82DB-B1ADC06209F0}" type="datetimeFigureOut">
              <a:rPr lang="en-US" smtClean="0"/>
              <a:t>3/2/2023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22E1BF-2F46-9781-625C-2D17C9635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69455D-9ADA-8C19-4653-F9919205D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45E60-C76B-422F-BF61-934C804DD7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596055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C0250-F013-ADDF-FF9E-07A9693EF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5053E5-E010-5754-9EB9-029462685F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362A52-E744-7F4A-7DBA-35BD734BAE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1019EE-30A0-DA09-8C94-7AE6DBA21B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567B7B-F936-0520-FF18-4C5DC8C941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E50F83-04B9-F2B4-ED92-25FDCDB3B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D8882-F948-4443-82DB-B1ADC06209F0}" type="datetimeFigureOut">
              <a:rPr lang="en-US" smtClean="0"/>
              <a:t>3/2/2023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985652-D395-ECE3-063F-AE6D73693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CE3741-6CB7-81C3-1CD0-76F10149B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45E60-C76B-422F-BF61-934C804DD7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485493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6F9C0-9EE7-FB62-69FC-96A6D77B8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B7837D-4D4C-73E5-592D-738B2273C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D8882-F948-4443-82DB-B1ADC06209F0}" type="datetimeFigureOut">
              <a:rPr lang="en-US" smtClean="0"/>
              <a:t>3/2/2023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2BE855-8C70-88A7-F9FB-03485E4DE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B9A9E5-5A46-E7E1-C03C-C5C2C0669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45E60-C76B-422F-BF61-934C804DD7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129340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132263-8AC8-0619-E52D-D18AFC813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D8882-F948-4443-82DB-B1ADC06209F0}" type="datetimeFigureOut">
              <a:rPr lang="en-US" smtClean="0"/>
              <a:t>3/2/2023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6D5300-DB02-79E1-257B-97CDFB3EB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A27F08-DC3C-9DDD-EBD1-D3679AEFA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45E60-C76B-422F-BF61-934C804DD7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148611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8064B-55E8-3245-C279-59C8531B9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FAAA3-3999-ADD6-B93B-F67E7CEDF4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1DAD86-0EE4-94D3-A462-2BBD44C64A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38B027-D7BC-8B31-A142-D448C151C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D8882-F948-4443-82DB-B1ADC06209F0}" type="datetimeFigureOut">
              <a:rPr lang="en-US" smtClean="0"/>
              <a:t>3/2/2023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9CB421-F9B5-40A6-D171-B1C8F0224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9D6C58-DB97-9DF1-E582-26F89CCC2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45E60-C76B-422F-BF61-934C804DD7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795116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4DC53-819B-C39C-CB84-71B14B0CA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999B06-528D-35BB-773E-50224A2457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2259F0-F06D-206E-4EC7-836E57068B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4048FF-378B-4019-4ABF-7AAA026ED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D8882-F948-4443-82DB-B1ADC06209F0}" type="datetimeFigureOut">
              <a:rPr lang="en-US" smtClean="0"/>
              <a:t>3/2/2023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99EE1D-794F-0752-4465-9F9F2F5E7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DA9057-A8C3-ECF9-3232-E6F47519A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45E60-C76B-422F-BF61-934C804DD7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90619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2B518-8B1F-431F-6FF3-EC0D61D3D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9CB0C9-44A8-DAFC-A181-F90C264940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012E98-FDD1-FFDE-F9F6-F0CEAEFF5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D8882-F948-4443-82DB-B1ADC06209F0}" type="datetimeFigureOut">
              <a:rPr lang="en-US" smtClean="0"/>
              <a:t>3/2/2023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CE6AAB-233F-EDD7-97FE-6BB122E8A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59C053-C625-033A-3A13-F19676795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45E60-C76B-422F-BF61-934C804DD7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634923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67277C-A0ED-DAC7-AE56-52D8B4EF36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992679-7A9F-3705-B99A-7CA7BDEC0D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FEDA71-194B-8A8D-486F-B3D06D655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D8882-F948-4443-82DB-B1ADC06209F0}" type="datetimeFigureOut">
              <a:rPr lang="en-US" smtClean="0"/>
              <a:t>3/2/2023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C277C7-4FBE-A6C2-A3CB-400613D62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5D1F16-97AA-37E7-301C-BF35546BA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45E60-C76B-422F-BF61-934C804DD7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848620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ABAEB7-48B4-7C24-7019-FF44091FE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FBB39D-5957-8F32-A648-D8E43D35BD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0DE06C-C7A0-CA7C-1336-71E5E21F69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3D8882-F948-4443-82DB-B1ADC06209F0}" type="datetimeFigureOut">
              <a:rPr lang="en-US" smtClean="0"/>
              <a:t>3/2/2023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1431E4-9833-BF43-346F-CCEBE7A07F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4C9EED-D58D-EEE6-604E-D80C51A39C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45E60-C76B-422F-BF61-934C804DD7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861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127.0.0.1:8000/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11960D9-D530-E14B-51FB-5BEF7FE548E7}"/>
              </a:ext>
            </a:extLst>
          </p:cNvPr>
          <p:cNvSpPr/>
          <p:nvPr/>
        </p:nvSpPr>
        <p:spPr>
          <a:xfrm>
            <a:off x="2874745" y="2581977"/>
            <a:ext cx="6442510" cy="34382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35CE0C-89BD-6C5C-F51A-03B096FEE4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8151"/>
            <a:ext cx="9144000" cy="687652"/>
          </a:xfrm>
          <a:ln>
            <a:noFill/>
          </a:ln>
        </p:spPr>
        <p:txBody>
          <a:bodyPr>
            <a:normAutofit fontScale="90000"/>
          </a:bodyPr>
          <a:lstStyle/>
          <a:p>
            <a:r>
              <a:rPr lang="en-US" sz="4400" b="1" dirty="0" err="1">
                <a:solidFill>
                  <a:srgbClr val="343434"/>
                </a:solidFill>
                <a:latin typeface="Montserrat" panose="00000500000000000000" pitchFamily="2" charset="0"/>
              </a:rPr>
              <a:t>Sistem</a:t>
            </a:r>
            <a:r>
              <a:rPr lang="en-US" sz="4400" b="1" dirty="0">
                <a:solidFill>
                  <a:srgbClr val="343434"/>
                </a:solidFill>
                <a:latin typeface="Montserrat" panose="00000500000000000000" pitchFamily="2" charset="0"/>
              </a:rPr>
              <a:t> </a:t>
            </a:r>
            <a:r>
              <a:rPr lang="en-US" sz="4400" b="1" dirty="0" err="1">
                <a:solidFill>
                  <a:srgbClr val="343434"/>
                </a:solidFill>
                <a:latin typeface="Montserrat" panose="00000500000000000000" pitchFamily="2" charset="0"/>
              </a:rPr>
              <a:t>Informasi</a:t>
            </a:r>
            <a:r>
              <a:rPr lang="en-US" sz="4400" b="1" dirty="0">
                <a:solidFill>
                  <a:srgbClr val="343434"/>
                </a:solidFill>
                <a:latin typeface="Montserrat" panose="00000500000000000000" pitchFamily="2" charset="0"/>
              </a:rPr>
              <a:t> </a:t>
            </a:r>
            <a:r>
              <a:rPr lang="en-US" sz="4400" b="1" dirty="0" err="1">
                <a:solidFill>
                  <a:srgbClr val="343434"/>
                </a:solidFill>
                <a:latin typeface="Montserrat" panose="00000500000000000000" pitchFamily="2" charset="0"/>
              </a:rPr>
              <a:t>Kantin</a:t>
            </a:r>
            <a:r>
              <a:rPr lang="en-US" sz="4400" b="1" dirty="0">
                <a:solidFill>
                  <a:srgbClr val="343434"/>
                </a:solidFill>
                <a:latin typeface="Montserrat" panose="00000500000000000000" pitchFamily="2" charset="0"/>
              </a:rPr>
              <a:t> </a:t>
            </a:r>
            <a:r>
              <a:rPr lang="en-US" sz="4400" b="1" dirty="0" err="1">
                <a:solidFill>
                  <a:srgbClr val="343434"/>
                </a:solidFill>
                <a:latin typeface="Montserrat" panose="00000500000000000000" pitchFamily="2" charset="0"/>
              </a:rPr>
              <a:t>Sekolah</a:t>
            </a:r>
            <a:br>
              <a:rPr lang="en-US" sz="4400" b="1" dirty="0">
                <a:solidFill>
                  <a:srgbClr val="343434"/>
                </a:solidFill>
                <a:latin typeface="Montserrat" panose="00000500000000000000" pitchFamily="2" charset="0"/>
              </a:rPr>
            </a:br>
            <a:r>
              <a:rPr lang="en-US" sz="4400" b="1" dirty="0">
                <a:solidFill>
                  <a:srgbClr val="343434"/>
                </a:solidFill>
                <a:latin typeface="Montserrat" panose="00000500000000000000" pitchFamily="2" charset="0"/>
              </a:rPr>
              <a:t>SMK Negeri 2 Surabaya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8ED1D94C-BCB0-E032-8952-1EFBC0B1B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00654" y="3369950"/>
            <a:ext cx="2790693" cy="627365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86BC4845-49D6-989F-ADD5-CBC272F4D4EB}"/>
              </a:ext>
            </a:extLst>
          </p:cNvPr>
          <p:cNvSpPr txBox="1">
            <a:spLocks/>
          </p:cNvSpPr>
          <p:nvPr/>
        </p:nvSpPr>
        <p:spPr>
          <a:xfrm>
            <a:off x="1524000" y="3811604"/>
            <a:ext cx="9144000" cy="148229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sz="2400" b="1" dirty="0">
                <a:solidFill>
                  <a:srgbClr val="343434"/>
                </a:solidFill>
                <a:latin typeface="Montserrat" panose="00000500000000000000" pitchFamily="2" charset="0"/>
              </a:rPr>
              <a:t>Oleh: </a:t>
            </a:r>
            <a:r>
              <a:rPr lang="en-US" sz="2400" dirty="0">
                <a:solidFill>
                  <a:srgbClr val="343434"/>
                </a:solidFill>
                <a:latin typeface="Montserrat" panose="00000500000000000000" pitchFamily="2" charset="0"/>
              </a:rPr>
              <a:t>Rifqi Raehan </a:t>
            </a:r>
            <a:r>
              <a:rPr lang="en-US" sz="2400" dirty="0" err="1">
                <a:solidFill>
                  <a:srgbClr val="343434"/>
                </a:solidFill>
                <a:latin typeface="Montserrat" panose="00000500000000000000" pitchFamily="2" charset="0"/>
              </a:rPr>
              <a:t>Hermawan</a:t>
            </a:r>
            <a:endParaRPr lang="en-US" sz="2400" dirty="0">
              <a:solidFill>
                <a:srgbClr val="343434"/>
              </a:solidFill>
              <a:latin typeface="Montserrat" panose="00000500000000000000" pitchFamily="2" charset="0"/>
            </a:endParaRPr>
          </a:p>
          <a:p>
            <a:pPr>
              <a:lnSpc>
                <a:spcPct val="120000"/>
              </a:lnSpc>
            </a:pPr>
            <a:r>
              <a:rPr lang="en-US" sz="2400" b="1" dirty="0" err="1">
                <a:solidFill>
                  <a:srgbClr val="343434"/>
                </a:solidFill>
                <a:latin typeface="Montserrat" panose="00000500000000000000" pitchFamily="2" charset="0"/>
              </a:rPr>
              <a:t>Kelas</a:t>
            </a:r>
            <a:r>
              <a:rPr lang="en-US" sz="2400" b="1" dirty="0">
                <a:solidFill>
                  <a:srgbClr val="343434"/>
                </a:solidFill>
                <a:latin typeface="Montserrat" panose="00000500000000000000" pitchFamily="2" charset="0"/>
              </a:rPr>
              <a:t>: </a:t>
            </a:r>
            <a:r>
              <a:rPr lang="en-US" sz="2400" dirty="0">
                <a:solidFill>
                  <a:srgbClr val="343434"/>
                </a:solidFill>
                <a:latin typeface="Montserrat" panose="00000500000000000000" pitchFamily="2" charset="0"/>
              </a:rPr>
              <a:t>12 RPL 2</a:t>
            </a:r>
          </a:p>
        </p:txBody>
      </p:sp>
    </p:spTree>
    <p:extLst>
      <p:ext uri="{BB962C8B-B14F-4D97-AF65-F5344CB8AC3E}">
        <p14:creationId xmlns:p14="http://schemas.microsoft.com/office/powerpoint/2010/main" val="3037985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062F30F-8F3A-D5EA-75E0-178F1D3CA8F2}"/>
              </a:ext>
            </a:extLst>
          </p:cNvPr>
          <p:cNvSpPr/>
          <p:nvPr/>
        </p:nvSpPr>
        <p:spPr>
          <a:xfrm>
            <a:off x="2458853" y="1700476"/>
            <a:ext cx="3014134" cy="377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93B904-C51A-6FB4-0F84-7966DB06A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254" y="1046162"/>
            <a:ext cx="4946583" cy="1325563"/>
          </a:xfrm>
        </p:spPr>
        <p:txBody>
          <a:bodyPr/>
          <a:lstStyle/>
          <a:p>
            <a:r>
              <a:rPr lang="en-US" b="1" dirty="0" err="1">
                <a:solidFill>
                  <a:srgbClr val="343434"/>
                </a:solidFill>
                <a:latin typeface="Montserrat" panose="00000500000000000000" pitchFamily="2" charset="0"/>
              </a:rPr>
              <a:t>Latar</a:t>
            </a:r>
            <a:r>
              <a:rPr lang="en-US" b="1" dirty="0">
                <a:solidFill>
                  <a:srgbClr val="343434"/>
                </a:solidFill>
                <a:latin typeface="Montserrat" panose="00000500000000000000" pitchFamily="2" charset="0"/>
              </a:rPr>
              <a:t> </a:t>
            </a:r>
            <a:r>
              <a:rPr lang="en-US" b="1" dirty="0" err="1">
                <a:solidFill>
                  <a:srgbClr val="343434"/>
                </a:solidFill>
                <a:latin typeface="Montserrat" panose="00000500000000000000" pitchFamily="2" charset="0"/>
              </a:rPr>
              <a:t>Belakang</a:t>
            </a:r>
            <a:endParaRPr lang="en-US" b="1" dirty="0">
              <a:solidFill>
                <a:srgbClr val="343434"/>
              </a:solidFill>
              <a:latin typeface="Montserrat" panose="000005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6133F-5081-3087-22F0-3A0D3819DD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253" y="2506662"/>
            <a:ext cx="10779493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>
                <a:solidFill>
                  <a:srgbClr val="343434"/>
                </a:solidFill>
                <a:latin typeface="Montserrat" panose="00000500000000000000" pitchFamily="2" charset="0"/>
              </a:rPr>
              <a:t>		 </a:t>
            </a:r>
            <a:r>
              <a:rPr lang="en-US" sz="2400" dirty="0" err="1">
                <a:solidFill>
                  <a:srgbClr val="343434"/>
                </a:solidFill>
                <a:latin typeface="Montserrat" panose="00000500000000000000" pitchFamily="2" charset="0"/>
              </a:rPr>
              <a:t>dibuat</a:t>
            </a:r>
            <a:r>
              <a:rPr lang="en-US" sz="2400" dirty="0">
                <a:solidFill>
                  <a:srgbClr val="343434"/>
                </a:solidFill>
                <a:latin typeface="Montserrat" panose="00000500000000000000" pitchFamily="2" charset="0"/>
              </a:rPr>
              <a:t> </a:t>
            </a:r>
            <a:r>
              <a:rPr lang="en-US" sz="2400" dirty="0" err="1">
                <a:solidFill>
                  <a:srgbClr val="343434"/>
                </a:solidFill>
                <a:latin typeface="Montserrat" panose="00000500000000000000" pitchFamily="2" charset="0"/>
              </a:rPr>
              <a:t>untuk</a:t>
            </a:r>
            <a:r>
              <a:rPr lang="en-US" sz="2400" dirty="0">
                <a:solidFill>
                  <a:srgbClr val="343434"/>
                </a:solidFill>
                <a:latin typeface="Montserrat" panose="00000500000000000000" pitchFamily="2" charset="0"/>
              </a:rPr>
              <a:t> </a:t>
            </a:r>
            <a:r>
              <a:rPr lang="en-US" sz="2400" dirty="0" err="1">
                <a:solidFill>
                  <a:srgbClr val="343434"/>
                </a:solidFill>
                <a:latin typeface="Montserrat" panose="00000500000000000000" pitchFamily="2" charset="0"/>
              </a:rPr>
              <a:t>memberikan</a:t>
            </a:r>
            <a:r>
              <a:rPr lang="en-US" sz="2400" dirty="0">
                <a:solidFill>
                  <a:srgbClr val="343434"/>
                </a:solidFill>
                <a:latin typeface="Montserrat" panose="00000500000000000000" pitchFamily="2" charset="0"/>
              </a:rPr>
              <a:t> </a:t>
            </a:r>
            <a:r>
              <a:rPr lang="en-US" sz="2400" dirty="0" err="1">
                <a:solidFill>
                  <a:srgbClr val="343434"/>
                </a:solidFill>
                <a:latin typeface="Montserrat" panose="00000500000000000000" pitchFamily="2" charset="0"/>
              </a:rPr>
              <a:t>kemudahan</a:t>
            </a:r>
            <a:r>
              <a:rPr lang="en-US" sz="2400" dirty="0">
                <a:solidFill>
                  <a:srgbClr val="343434"/>
                </a:solidFill>
                <a:latin typeface="Montserrat" panose="00000500000000000000" pitchFamily="2" charset="0"/>
              </a:rPr>
              <a:t> </a:t>
            </a:r>
            <a:r>
              <a:rPr lang="en-US" sz="2400" dirty="0" err="1">
                <a:solidFill>
                  <a:srgbClr val="343434"/>
                </a:solidFill>
                <a:latin typeface="Montserrat" panose="00000500000000000000" pitchFamily="2" charset="0"/>
              </a:rPr>
              <a:t>bagi</a:t>
            </a:r>
            <a:r>
              <a:rPr lang="en-US" sz="2400" dirty="0">
                <a:solidFill>
                  <a:srgbClr val="343434"/>
                </a:solidFill>
                <a:latin typeface="Montserrat" panose="00000500000000000000" pitchFamily="2" charset="0"/>
              </a:rPr>
              <a:t> </a:t>
            </a:r>
            <a:r>
              <a:rPr lang="en-US" sz="2400" dirty="0" err="1">
                <a:solidFill>
                  <a:srgbClr val="343434"/>
                </a:solidFill>
                <a:latin typeface="Montserrat" panose="00000500000000000000" pitchFamily="2" charset="0"/>
              </a:rPr>
              <a:t>siswa</a:t>
            </a:r>
            <a:r>
              <a:rPr lang="en-US" sz="2400" dirty="0">
                <a:solidFill>
                  <a:srgbClr val="343434"/>
                </a:solidFill>
                <a:latin typeface="Montserrat" panose="00000500000000000000" pitchFamily="2" charset="0"/>
              </a:rPr>
              <a:t> </a:t>
            </a:r>
            <a:r>
              <a:rPr lang="en-US" sz="2400" dirty="0" err="1">
                <a:solidFill>
                  <a:srgbClr val="343434"/>
                </a:solidFill>
                <a:latin typeface="Montserrat" panose="00000500000000000000" pitchFamily="2" charset="0"/>
              </a:rPr>
              <a:t>dalam</a:t>
            </a:r>
            <a:r>
              <a:rPr lang="en-US" sz="2400" dirty="0">
                <a:solidFill>
                  <a:srgbClr val="343434"/>
                </a:solidFill>
                <a:latin typeface="Montserrat" panose="00000500000000000000" pitchFamily="2" charset="0"/>
              </a:rPr>
              <a:t> </a:t>
            </a:r>
            <a:r>
              <a:rPr lang="en-US" sz="2400" dirty="0" err="1">
                <a:solidFill>
                  <a:srgbClr val="343434"/>
                </a:solidFill>
                <a:latin typeface="Montserrat" panose="00000500000000000000" pitchFamily="2" charset="0"/>
              </a:rPr>
              <a:t>memesan</a:t>
            </a:r>
            <a:r>
              <a:rPr lang="en-US" sz="2400" dirty="0">
                <a:solidFill>
                  <a:srgbClr val="343434"/>
                </a:solidFill>
                <a:latin typeface="Montserrat" panose="00000500000000000000" pitchFamily="2" charset="0"/>
              </a:rPr>
              <a:t> </a:t>
            </a:r>
            <a:r>
              <a:rPr lang="en-US" sz="2400" dirty="0" err="1">
                <a:solidFill>
                  <a:srgbClr val="343434"/>
                </a:solidFill>
                <a:latin typeface="Montserrat" panose="00000500000000000000" pitchFamily="2" charset="0"/>
              </a:rPr>
              <a:t>produk</a:t>
            </a:r>
            <a:r>
              <a:rPr lang="en-US" sz="2400" dirty="0">
                <a:solidFill>
                  <a:srgbClr val="343434"/>
                </a:solidFill>
                <a:latin typeface="Montserrat" panose="00000500000000000000" pitchFamily="2" charset="0"/>
              </a:rPr>
              <a:t> </a:t>
            </a:r>
            <a:r>
              <a:rPr lang="en-US" sz="2400" dirty="0" err="1">
                <a:solidFill>
                  <a:srgbClr val="343434"/>
                </a:solidFill>
                <a:latin typeface="Montserrat" panose="00000500000000000000" pitchFamily="2" charset="0"/>
              </a:rPr>
              <a:t>kantin</a:t>
            </a:r>
            <a:r>
              <a:rPr lang="en-US" sz="2400" dirty="0">
                <a:solidFill>
                  <a:srgbClr val="343434"/>
                </a:solidFill>
                <a:latin typeface="Montserrat" panose="00000500000000000000" pitchFamily="2" charset="0"/>
              </a:rPr>
              <a:t> </a:t>
            </a:r>
            <a:r>
              <a:rPr lang="en-US" sz="2400" dirty="0" err="1">
                <a:solidFill>
                  <a:srgbClr val="343434"/>
                </a:solidFill>
                <a:latin typeface="Montserrat" panose="00000500000000000000" pitchFamily="2" charset="0"/>
              </a:rPr>
              <a:t>secara</a:t>
            </a:r>
            <a:r>
              <a:rPr lang="en-US" sz="2400" dirty="0">
                <a:solidFill>
                  <a:srgbClr val="343434"/>
                </a:solidFill>
                <a:latin typeface="Montserrat" panose="00000500000000000000" pitchFamily="2" charset="0"/>
              </a:rPr>
              <a:t> online dan </a:t>
            </a:r>
            <a:r>
              <a:rPr lang="en-US" sz="2400" dirty="0" err="1">
                <a:solidFill>
                  <a:srgbClr val="343434"/>
                </a:solidFill>
                <a:latin typeface="Montserrat" panose="00000500000000000000" pitchFamily="2" charset="0"/>
              </a:rPr>
              <a:t>efisiensi</a:t>
            </a:r>
            <a:r>
              <a:rPr lang="en-US" sz="2400" dirty="0">
                <a:solidFill>
                  <a:srgbClr val="343434"/>
                </a:solidFill>
                <a:latin typeface="Montserrat" panose="00000500000000000000" pitchFamily="2" charset="0"/>
              </a:rPr>
              <a:t> </a:t>
            </a:r>
            <a:r>
              <a:rPr lang="en-US" sz="2400" dirty="0" err="1">
                <a:solidFill>
                  <a:srgbClr val="343434"/>
                </a:solidFill>
                <a:latin typeface="Montserrat" panose="00000500000000000000" pitchFamily="2" charset="0"/>
              </a:rPr>
              <a:t>dalam</a:t>
            </a:r>
            <a:r>
              <a:rPr lang="en-US" sz="2400" dirty="0">
                <a:solidFill>
                  <a:srgbClr val="343434"/>
                </a:solidFill>
                <a:latin typeface="Montserrat" panose="00000500000000000000" pitchFamily="2" charset="0"/>
              </a:rPr>
              <a:t> </a:t>
            </a:r>
            <a:r>
              <a:rPr lang="en-US" sz="2400" dirty="0" err="1">
                <a:solidFill>
                  <a:srgbClr val="343434"/>
                </a:solidFill>
                <a:latin typeface="Montserrat" panose="00000500000000000000" pitchFamily="2" charset="0"/>
              </a:rPr>
              <a:t>pengelolaan</a:t>
            </a:r>
            <a:r>
              <a:rPr lang="en-US" sz="2400" dirty="0">
                <a:solidFill>
                  <a:srgbClr val="343434"/>
                </a:solidFill>
                <a:latin typeface="Montserrat" panose="00000500000000000000" pitchFamily="2" charset="0"/>
              </a:rPr>
              <a:t> </a:t>
            </a:r>
            <a:r>
              <a:rPr lang="en-US" sz="2400" dirty="0" err="1">
                <a:solidFill>
                  <a:srgbClr val="343434"/>
                </a:solidFill>
                <a:latin typeface="Montserrat" panose="00000500000000000000" pitchFamily="2" charset="0"/>
              </a:rPr>
              <a:t>dagangan</a:t>
            </a:r>
            <a:r>
              <a:rPr lang="en-US" sz="2400" dirty="0">
                <a:solidFill>
                  <a:srgbClr val="343434"/>
                </a:solidFill>
                <a:latin typeface="Montserrat" panose="00000500000000000000" pitchFamily="2" charset="0"/>
              </a:rPr>
              <a:t> </a:t>
            </a:r>
            <a:r>
              <a:rPr lang="en-US" sz="2400" dirty="0" err="1">
                <a:solidFill>
                  <a:srgbClr val="343434"/>
                </a:solidFill>
                <a:latin typeface="Montserrat" panose="00000500000000000000" pitchFamily="2" charset="0"/>
              </a:rPr>
              <a:t>kantin</a:t>
            </a:r>
            <a:r>
              <a:rPr lang="en-US" sz="2400" dirty="0">
                <a:solidFill>
                  <a:srgbClr val="343434"/>
                </a:solidFill>
                <a:latin typeface="Montserrat" panose="00000500000000000000" pitchFamily="2" charset="0"/>
              </a:rPr>
              <a:t> oleh </a:t>
            </a:r>
            <a:r>
              <a:rPr lang="en-US" sz="2400" dirty="0" err="1">
                <a:solidFill>
                  <a:srgbClr val="343434"/>
                </a:solidFill>
                <a:latin typeface="Montserrat" panose="00000500000000000000" pitchFamily="2" charset="0"/>
              </a:rPr>
              <a:t>penjual</a:t>
            </a:r>
            <a:r>
              <a:rPr lang="en-US" sz="2400" dirty="0">
                <a:solidFill>
                  <a:srgbClr val="343434"/>
                </a:solidFill>
                <a:latin typeface="Montserrat" panose="00000500000000000000" pitchFamily="2" charset="0"/>
              </a:rPr>
              <a:t>. </a:t>
            </a:r>
            <a:r>
              <a:rPr lang="en-US" sz="2400" dirty="0" err="1">
                <a:solidFill>
                  <a:srgbClr val="343434"/>
                </a:solidFill>
                <a:latin typeface="Montserrat" panose="00000500000000000000" pitchFamily="2" charset="0"/>
              </a:rPr>
              <a:t>Sistem</a:t>
            </a:r>
            <a:r>
              <a:rPr lang="en-US" sz="2400" dirty="0">
                <a:solidFill>
                  <a:srgbClr val="343434"/>
                </a:solidFill>
                <a:latin typeface="Montserrat" panose="00000500000000000000" pitchFamily="2" charset="0"/>
              </a:rPr>
              <a:t> </a:t>
            </a:r>
            <a:r>
              <a:rPr lang="en-US" sz="2400" dirty="0" err="1">
                <a:solidFill>
                  <a:srgbClr val="343434"/>
                </a:solidFill>
                <a:latin typeface="Montserrat" panose="00000500000000000000" pitchFamily="2" charset="0"/>
              </a:rPr>
              <a:t>ini</a:t>
            </a:r>
            <a:r>
              <a:rPr lang="en-US" sz="2400" dirty="0">
                <a:solidFill>
                  <a:srgbClr val="343434"/>
                </a:solidFill>
                <a:latin typeface="Montserrat" panose="00000500000000000000" pitchFamily="2" charset="0"/>
              </a:rPr>
              <a:t> </a:t>
            </a:r>
            <a:r>
              <a:rPr lang="en-US" sz="2400" dirty="0" err="1">
                <a:solidFill>
                  <a:srgbClr val="343434"/>
                </a:solidFill>
                <a:latin typeface="Montserrat" panose="00000500000000000000" pitchFamily="2" charset="0"/>
              </a:rPr>
              <a:t>membantu</a:t>
            </a:r>
            <a:r>
              <a:rPr lang="en-US" sz="2400" dirty="0">
                <a:solidFill>
                  <a:srgbClr val="343434"/>
                </a:solidFill>
                <a:latin typeface="Montserrat" panose="00000500000000000000" pitchFamily="2" charset="0"/>
              </a:rPr>
              <a:t> </a:t>
            </a:r>
            <a:r>
              <a:rPr lang="en-US" sz="2400" dirty="0" err="1">
                <a:solidFill>
                  <a:srgbClr val="343434"/>
                </a:solidFill>
                <a:latin typeface="Montserrat" panose="00000500000000000000" pitchFamily="2" charset="0"/>
              </a:rPr>
              <a:t>mengurangi</a:t>
            </a:r>
            <a:r>
              <a:rPr lang="en-US" sz="2400" dirty="0">
                <a:solidFill>
                  <a:srgbClr val="343434"/>
                </a:solidFill>
                <a:latin typeface="Montserrat" panose="00000500000000000000" pitchFamily="2" charset="0"/>
              </a:rPr>
              <a:t> </a:t>
            </a:r>
            <a:r>
              <a:rPr lang="en-US" sz="2400" dirty="0" err="1">
                <a:solidFill>
                  <a:srgbClr val="343434"/>
                </a:solidFill>
                <a:latin typeface="Montserrat" panose="00000500000000000000" pitchFamily="2" charset="0"/>
              </a:rPr>
              <a:t>waktu</a:t>
            </a:r>
            <a:r>
              <a:rPr lang="en-US" sz="2400" dirty="0">
                <a:solidFill>
                  <a:srgbClr val="343434"/>
                </a:solidFill>
                <a:latin typeface="Montserrat" panose="00000500000000000000" pitchFamily="2" charset="0"/>
              </a:rPr>
              <a:t> </a:t>
            </a:r>
            <a:r>
              <a:rPr lang="en-US" sz="2400" dirty="0" err="1">
                <a:solidFill>
                  <a:srgbClr val="343434"/>
                </a:solidFill>
                <a:latin typeface="Montserrat" panose="00000500000000000000" pitchFamily="2" charset="0"/>
              </a:rPr>
              <a:t>antrean</a:t>
            </a:r>
            <a:r>
              <a:rPr lang="en-US" sz="2400" dirty="0">
                <a:solidFill>
                  <a:srgbClr val="343434"/>
                </a:solidFill>
                <a:latin typeface="Montserrat" panose="00000500000000000000" pitchFamily="2" charset="0"/>
              </a:rPr>
              <a:t> </a:t>
            </a:r>
            <a:r>
              <a:rPr lang="en-US" sz="2400" dirty="0" err="1">
                <a:solidFill>
                  <a:srgbClr val="343434"/>
                </a:solidFill>
                <a:latin typeface="Montserrat" panose="00000500000000000000" pitchFamily="2" charset="0"/>
              </a:rPr>
              <a:t>siswa</a:t>
            </a:r>
            <a:r>
              <a:rPr lang="en-US" sz="2400" dirty="0">
                <a:solidFill>
                  <a:srgbClr val="343434"/>
                </a:solidFill>
                <a:latin typeface="Montserrat" panose="00000500000000000000" pitchFamily="2" charset="0"/>
              </a:rPr>
              <a:t> di </a:t>
            </a:r>
            <a:r>
              <a:rPr lang="en-US" sz="2400" dirty="0" err="1">
                <a:solidFill>
                  <a:srgbClr val="343434"/>
                </a:solidFill>
                <a:latin typeface="Montserrat" panose="00000500000000000000" pitchFamily="2" charset="0"/>
              </a:rPr>
              <a:t>kantin</a:t>
            </a:r>
            <a:r>
              <a:rPr lang="en-US" sz="2400" dirty="0">
                <a:solidFill>
                  <a:srgbClr val="343434"/>
                </a:solidFill>
                <a:latin typeface="Montserrat" panose="00000500000000000000" pitchFamily="2" charset="0"/>
              </a:rPr>
              <a:t>, </a:t>
            </a:r>
            <a:r>
              <a:rPr lang="en-US" sz="2400" dirty="0" err="1">
                <a:solidFill>
                  <a:srgbClr val="343434"/>
                </a:solidFill>
                <a:latin typeface="Montserrat" panose="00000500000000000000" pitchFamily="2" charset="0"/>
              </a:rPr>
              <a:t>mempercepat</a:t>
            </a:r>
            <a:r>
              <a:rPr lang="en-US" sz="2400" dirty="0">
                <a:solidFill>
                  <a:srgbClr val="343434"/>
                </a:solidFill>
                <a:latin typeface="Montserrat" panose="00000500000000000000" pitchFamily="2" charset="0"/>
              </a:rPr>
              <a:t> proses </a:t>
            </a:r>
            <a:r>
              <a:rPr lang="en-US" sz="2400" dirty="0" err="1">
                <a:solidFill>
                  <a:srgbClr val="343434"/>
                </a:solidFill>
                <a:latin typeface="Montserrat" panose="00000500000000000000" pitchFamily="2" charset="0"/>
              </a:rPr>
              <a:t>pembelian</a:t>
            </a:r>
            <a:r>
              <a:rPr lang="en-US" sz="2400" dirty="0">
                <a:solidFill>
                  <a:srgbClr val="343434"/>
                </a:solidFill>
                <a:latin typeface="Montserrat" panose="00000500000000000000" pitchFamily="2" charset="0"/>
              </a:rPr>
              <a:t> dan </a:t>
            </a:r>
            <a:r>
              <a:rPr lang="en-US" sz="2400" dirty="0" err="1">
                <a:solidFill>
                  <a:srgbClr val="343434"/>
                </a:solidFill>
                <a:latin typeface="Montserrat" panose="00000500000000000000" pitchFamily="2" charset="0"/>
              </a:rPr>
              <a:t>meningkatkan</a:t>
            </a:r>
            <a:r>
              <a:rPr lang="en-US" sz="2400" dirty="0">
                <a:solidFill>
                  <a:srgbClr val="343434"/>
                </a:solidFill>
                <a:latin typeface="Montserrat" panose="00000500000000000000" pitchFamily="2" charset="0"/>
              </a:rPr>
              <a:t> </a:t>
            </a:r>
            <a:r>
              <a:rPr lang="en-US" sz="2400" dirty="0" err="1">
                <a:solidFill>
                  <a:srgbClr val="343434"/>
                </a:solidFill>
                <a:latin typeface="Montserrat" panose="00000500000000000000" pitchFamily="2" charset="0"/>
              </a:rPr>
              <a:t>efisiensi</a:t>
            </a:r>
            <a:r>
              <a:rPr lang="en-US" sz="2400" dirty="0">
                <a:solidFill>
                  <a:srgbClr val="343434"/>
                </a:solidFill>
                <a:latin typeface="Montserrat" panose="00000500000000000000" pitchFamily="2" charset="0"/>
              </a:rPr>
              <a:t> </a:t>
            </a:r>
            <a:r>
              <a:rPr lang="en-US" sz="2400" dirty="0" err="1">
                <a:solidFill>
                  <a:srgbClr val="343434"/>
                </a:solidFill>
                <a:latin typeface="Montserrat" panose="00000500000000000000" pitchFamily="2" charset="0"/>
              </a:rPr>
              <a:t>pengelolaan</a:t>
            </a:r>
            <a:r>
              <a:rPr lang="en-US" sz="2400" dirty="0">
                <a:solidFill>
                  <a:srgbClr val="343434"/>
                </a:solidFill>
                <a:latin typeface="Montserrat" panose="00000500000000000000" pitchFamily="2" charset="0"/>
              </a:rPr>
              <a:t> </a:t>
            </a:r>
            <a:r>
              <a:rPr lang="en-US" sz="2400" dirty="0" err="1">
                <a:solidFill>
                  <a:srgbClr val="343434"/>
                </a:solidFill>
                <a:latin typeface="Montserrat" panose="00000500000000000000" pitchFamily="2" charset="0"/>
              </a:rPr>
              <a:t>dagangan</a:t>
            </a:r>
            <a:r>
              <a:rPr lang="en-US" sz="2400" dirty="0">
                <a:solidFill>
                  <a:srgbClr val="343434"/>
                </a:solidFill>
                <a:latin typeface="Montserrat" panose="00000500000000000000" pitchFamily="2" charset="0"/>
              </a:rPr>
              <a:t>. </a:t>
            </a:r>
            <a:r>
              <a:rPr lang="en-US" sz="2400" dirty="0" err="1">
                <a:solidFill>
                  <a:srgbClr val="343434"/>
                </a:solidFill>
                <a:latin typeface="Montserrat" panose="00000500000000000000" pitchFamily="2" charset="0"/>
              </a:rPr>
              <a:t>Dengan</a:t>
            </a:r>
            <a:r>
              <a:rPr lang="en-US" sz="2400" dirty="0">
                <a:solidFill>
                  <a:srgbClr val="343434"/>
                </a:solidFill>
                <a:latin typeface="Montserrat" panose="00000500000000000000" pitchFamily="2" charset="0"/>
              </a:rPr>
              <a:t> </a:t>
            </a:r>
            <a:r>
              <a:rPr lang="en-US" sz="2400" dirty="0" err="1">
                <a:solidFill>
                  <a:srgbClr val="343434"/>
                </a:solidFill>
                <a:latin typeface="Montserrat" panose="00000500000000000000" pitchFamily="2" charset="0"/>
              </a:rPr>
              <a:t>adanya</a:t>
            </a:r>
            <a:r>
              <a:rPr lang="en-US" sz="2400" dirty="0">
                <a:solidFill>
                  <a:srgbClr val="343434"/>
                </a:solidFill>
                <a:latin typeface="Montserrat" panose="00000500000000000000" pitchFamily="2" charset="0"/>
              </a:rPr>
              <a:t> SI </a:t>
            </a:r>
            <a:r>
              <a:rPr lang="en-US" sz="2400" dirty="0" err="1">
                <a:solidFill>
                  <a:srgbClr val="343434"/>
                </a:solidFill>
                <a:latin typeface="Montserrat" panose="00000500000000000000" pitchFamily="2" charset="0"/>
              </a:rPr>
              <a:t>kantin</a:t>
            </a:r>
            <a:r>
              <a:rPr lang="en-US" sz="2400" dirty="0">
                <a:solidFill>
                  <a:srgbClr val="343434"/>
                </a:solidFill>
                <a:latin typeface="Montserrat" panose="00000500000000000000" pitchFamily="2" charset="0"/>
              </a:rPr>
              <a:t> </a:t>
            </a:r>
            <a:r>
              <a:rPr lang="en-US" sz="2400" dirty="0" err="1">
                <a:solidFill>
                  <a:srgbClr val="343434"/>
                </a:solidFill>
                <a:latin typeface="Montserrat" panose="00000500000000000000" pitchFamily="2" charset="0"/>
              </a:rPr>
              <a:t>sekolah</a:t>
            </a:r>
            <a:r>
              <a:rPr lang="en-US" sz="2400" dirty="0">
                <a:solidFill>
                  <a:srgbClr val="343434"/>
                </a:solidFill>
                <a:latin typeface="Montserrat" panose="00000500000000000000" pitchFamily="2" charset="0"/>
              </a:rPr>
              <a:t> </a:t>
            </a:r>
            <a:r>
              <a:rPr lang="en-US" sz="2400" dirty="0" err="1">
                <a:solidFill>
                  <a:srgbClr val="343434"/>
                </a:solidFill>
                <a:latin typeface="Montserrat" panose="00000500000000000000" pitchFamily="2" charset="0"/>
              </a:rPr>
              <a:t>ini</a:t>
            </a:r>
            <a:r>
              <a:rPr lang="en-US" sz="2400" dirty="0">
                <a:solidFill>
                  <a:srgbClr val="343434"/>
                </a:solidFill>
                <a:latin typeface="Montserrat" panose="00000500000000000000" pitchFamily="2" charset="0"/>
              </a:rPr>
              <a:t>, </a:t>
            </a:r>
            <a:r>
              <a:rPr lang="en-US" sz="2400" dirty="0" err="1">
                <a:solidFill>
                  <a:srgbClr val="343434"/>
                </a:solidFill>
                <a:latin typeface="Montserrat" panose="00000500000000000000" pitchFamily="2" charset="0"/>
              </a:rPr>
              <a:t>siswa</a:t>
            </a:r>
            <a:r>
              <a:rPr lang="en-US" sz="2400" dirty="0">
                <a:solidFill>
                  <a:srgbClr val="343434"/>
                </a:solidFill>
                <a:latin typeface="Montserrat" panose="00000500000000000000" pitchFamily="2" charset="0"/>
              </a:rPr>
              <a:t> </a:t>
            </a:r>
            <a:r>
              <a:rPr lang="en-US" sz="2400" dirty="0" err="1">
                <a:solidFill>
                  <a:srgbClr val="343434"/>
                </a:solidFill>
                <a:latin typeface="Montserrat" panose="00000500000000000000" pitchFamily="2" charset="0"/>
              </a:rPr>
              <a:t>dapat</a:t>
            </a:r>
            <a:r>
              <a:rPr lang="en-US" sz="2400" dirty="0">
                <a:solidFill>
                  <a:srgbClr val="343434"/>
                </a:solidFill>
                <a:latin typeface="Montserrat" panose="00000500000000000000" pitchFamily="2" charset="0"/>
              </a:rPr>
              <a:t> </a:t>
            </a:r>
            <a:r>
              <a:rPr lang="en-US" sz="2400" dirty="0" err="1">
                <a:solidFill>
                  <a:srgbClr val="343434"/>
                </a:solidFill>
                <a:latin typeface="Montserrat" panose="00000500000000000000" pitchFamily="2" charset="0"/>
              </a:rPr>
              <a:t>memesan</a:t>
            </a:r>
            <a:r>
              <a:rPr lang="en-US" sz="2400" dirty="0">
                <a:solidFill>
                  <a:srgbClr val="343434"/>
                </a:solidFill>
                <a:latin typeface="Montserrat" panose="00000500000000000000" pitchFamily="2" charset="0"/>
              </a:rPr>
              <a:t> </a:t>
            </a:r>
            <a:r>
              <a:rPr lang="en-US" sz="2400" dirty="0" err="1">
                <a:solidFill>
                  <a:srgbClr val="343434"/>
                </a:solidFill>
                <a:latin typeface="Montserrat" panose="00000500000000000000" pitchFamily="2" charset="0"/>
              </a:rPr>
              <a:t>produk</a:t>
            </a:r>
            <a:r>
              <a:rPr lang="en-US" sz="2400" dirty="0">
                <a:solidFill>
                  <a:srgbClr val="343434"/>
                </a:solidFill>
                <a:latin typeface="Montserrat" panose="00000500000000000000" pitchFamily="2" charset="0"/>
              </a:rPr>
              <a:t> </a:t>
            </a:r>
            <a:r>
              <a:rPr lang="en-US" sz="2400" dirty="0" err="1">
                <a:solidFill>
                  <a:srgbClr val="343434"/>
                </a:solidFill>
                <a:latin typeface="Montserrat" panose="00000500000000000000" pitchFamily="2" charset="0"/>
              </a:rPr>
              <a:t>kantin</a:t>
            </a:r>
            <a:r>
              <a:rPr lang="en-US" sz="2400" dirty="0">
                <a:solidFill>
                  <a:srgbClr val="343434"/>
                </a:solidFill>
                <a:latin typeface="Montserrat" panose="00000500000000000000" pitchFamily="2" charset="0"/>
              </a:rPr>
              <a:t> </a:t>
            </a:r>
            <a:r>
              <a:rPr lang="en-US" sz="2400" dirty="0" err="1">
                <a:solidFill>
                  <a:srgbClr val="343434"/>
                </a:solidFill>
                <a:latin typeface="Montserrat" panose="00000500000000000000" pitchFamily="2" charset="0"/>
              </a:rPr>
              <a:t>secara</a:t>
            </a:r>
            <a:r>
              <a:rPr lang="en-US" sz="2400" dirty="0">
                <a:solidFill>
                  <a:srgbClr val="343434"/>
                </a:solidFill>
                <a:latin typeface="Montserrat" panose="00000500000000000000" pitchFamily="2" charset="0"/>
              </a:rPr>
              <a:t> online dan </a:t>
            </a:r>
            <a:r>
              <a:rPr lang="en-US" sz="2400" dirty="0" err="1">
                <a:solidFill>
                  <a:srgbClr val="343434"/>
                </a:solidFill>
                <a:latin typeface="Montserrat" panose="00000500000000000000" pitchFamily="2" charset="0"/>
              </a:rPr>
              <a:t>mengambilnya</a:t>
            </a:r>
            <a:r>
              <a:rPr lang="en-US" sz="2400" dirty="0">
                <a:solidFill>
                  <a:srgbClr val="343434"/>
                </a:solidFill>
                <a:latin typeface="Montserrat" panose="00000500000000000000" pitchFamily="2" charset="0"/>
              </a:rPr>
              <a:t> </a:t>
            </a:r>
            <a:r>
              <a:rPr lang="en-US" sz="2400" dirty="0" err="1">
                <a:solidFill>
                  <a:srgbClr val="343434"/>
                </a:solidFill>
                <a:latin typeface="Montserrat" panose="00000500000000000000" pitchFamily="2" charset="0"/>
              </a:rPr>
              <a:t>ketika</a:t>
            </a:r>
            <a:r>
              <a:rPr lang="en-US" sz="2400" dirty="0">
                <a:solidFill>
                  <a:srgbClr val="343434"/>
                </a:solidFill>
                <a:latin typeface="Montserrat" panose="00000500000000000000" pitchFamily="2" charset="0"/>
              </a:rPr>
              <a:t> </a:t>
            </a:r>
            <a:r>
              <a:rPr lang="en-US" sz="2400" dirty="0" err="1">
                <a:solidFill>
                  <a:srgbClr val="343434"/>
                </a:solidFill>
                <a:latin typeface="Montserrat" panose="00000500000000000000" pitchFamily="2" charset="0"/>
              </a:rPr>
              <a:t>pesanan</a:t>
            </a:r>
            <a:r>
              <a:rPr lang="en-US" sz="2400" dirty="0">
                <a:solidFill>
                  <a:srgbClr val="343434"/>
                </a:solidFill>
                <a:latin typeface="Montserrat" panose="00000500000000000000" pitchFamily="2" charset="0"/>
              </a:rPr>
              <a:t> </a:t>
            </a:r>
            <a:r>
              <a:rPr lang="en-US" sz="2400" dirty="0" err="1">
                <a:solidFill>
                  <a:srgbClr val="343434"/>
                </a:solidFill>
                <a:latin typeface="Montserrat" panose="00000500000000000000" pitchFamily="2" charset="0"/>
              </a:rPr>
              <a:t>sudah</a:t>
            </a:r>
            <a:r>
              <a:rPr lang="en-US" sz="2400" dirty="0">
                <a:solidFill>
                  <a:srgbClr val="343434"/>
                </a:solidFill>
                <a:latin typeface="Montserrat" panose="00000500000000000000" pitchFamily="2" charset="0"/>
              </a:rPr>
              <a:t> </a:t>
            </a:r>
            <a:r>
              <a:rPr lang="en-US" sz="2400" dirty="0" err="1">
                <a:solidFill>
                  <a:srgbClr val="343434"/>
                </a:solidFill>
                <a:latin typeface="Montserrat" panose="00000500000000000000" pitchFamily="2" charset="0"/>
              </a:rPr>
              <a:t>siap</a:t>
            </a:r>
            <a:r>
              <a:rPr lang="en-US" sz="2400" dirty="0">
                <a:solidFill>
                  <a:srgbClr val="343434"/>
                </a:solidFill>
                <a:latin typeface="Montserrat" panose="00000500000000000000" pitchFamily="2" charset="0"/>
              </a:rPr>
              <a:t>, </a:t>
            </a:r>
            <a:r>
              <a:rPr lang="en-US" sz="2400" dirty="0" err="1">
                <a:solidFill>
                  <a:srgbClr val="343434"/>
                </a:solidFill>
                <a:latin typeface="Montserrat" panose="00000500000000000000" pitchFamily="2" charset="0"/>
              </a:rPr>
              <a:t>serta</a:t>
            </a:r>
            <a:r>
              <a:rPr lang="en-US" sz="2400" dirty="0">
                <a:solidFill>
                  <a:srgbClr val="343434"/>
                </a:solidFill>
                <a:latin typeface="Montserrat" panose="00000500000000000000" pitchFamily="2" charset="0"/>
              </a:rPr>
              <a:t> </a:t>
            </a:r>
            <a:r>
              <a:rPr lang="en-US" sz="2400" dirty="0" err="1">
                <a:solidFill>
                  <a:srgbClr val="343434"/>
                </a:solidFill>
                <a:latin typeface="Montserrat" panose="00000500000000000000" pitchFamily="2" charset="0"/>
              </a:rPr>
              <a:t>membantu</a:t>
            </a:r>
            <a:r>
              <a:rPr lang="en-US" sz="2400" dirty="0">
                <a:solidFill>
                  <a:srgbClr val="343434"/>
                </a:solidFill>
                <a:latin typeface="Montserrat" panose="00000500000000000000" pitchFamily="2" charset="0"/>
              </a:rPr>
              <a:t> </a:t>
            </a:r>
            <a:r>
              <a:rPr lang="en-US" sz="2400" dirty="0" err="1">
                <a:solidFill>
                  <a:srgbClr val="343434"/>
                </a:solidFill>
                <a:latin typeface="Montserrat" panose="00000500000000000000" pitchFamily="2" charset="0"/>
              </a:rPr>
              <a:t>penjual</a:t>
            </a:r>
            <a:r>
              <a:rPr lang="en-US" sz="2400" dirty="0">
                <a:solidFill>
                  <a:srgbClr val="343434"/>
                </a:solidFill>
                <a:latin typeface="Montserrat" panose="00000500000000000000" pitchFamily="2" charset="0"/>
              </a:rPr>
              <a:t> </a:t>
            </a:r>
            <a:r>
              <a:rPr lang="en-US" sz="2400" dirty="0" err="1">
                <a:solidFill>
                  <a:srgbClr val="343434"/>
                </a:solidFill>
                <a:latin typeface="Montserrat" panose="00000500000000000000" pitchFamily="2" charset="0"/>
              </a:rPr>
              <a:t>kantin</a:t>
            </a:r>
            <a:r>
              <a:rPr lang="en-US" sz="2400" dirty="0">
                <a:solidFill>
                  <a:srgbClr val="343434"/>
                </a:solidFill>
                <a:latin typeface="Montserrat" panose="00000500000000000000" pitchFamily="2" charset="0"/>
              </a:rPr>
              <a:t> </a:t>
            </a:r>
            <a:r>
              <a:rPr lang="en-US" sz="2400" dirty="0" err="1">
                <a:solidFill>
                  <a:srgbClr val="343434"/>
                </a:solidFill>
                <a:latin typeface="Montserrat" panose="00000500000000000000" pitchFamily="2" charset="0"/>
              </a:rPr>
              <a:t>dalam</a:t>
            </a:r>
            <a:r>
              <a:rPr lang="en-US" sz="2400" dirty="0">
                <a:solidFill>
                  <a:srgbClr val="343434"/>
                </a:solidFill>
                <a:latin typeface="Montserrat" panose="00000500000000000000" pitchFamily="2" charset="0"/>
              </a:rPr>
              <a:t> </a:t>
            </a:r>
            <a:r>
              <a:rPr lang="en-US" sz="2400" dirty="0" err="1">
                <a:solidFill>
                  <a:srgbClr val="343434"/>
                </a:solidFill>
                <a:latin typeface="Montserrat" panose="00000500000000000000" pitchFamily="2" charset="0"/>
              </a:rPr>
              <a:t>mengelola</a:t>
            </a:r>
            <a:r>
              <a:rPr lang="en-US" sz="2400" dirty="0">
                <a:solidFill>
                  <a:srgbClr val="343434"/>
                </a:solidFill>
                <a:latin typeface="Montserrat" panose="00000500000000000000" pitchFamily="2" charset="0"/>
              </a:rPr>
              <a:t> </a:t>
            </a:r>
            <a:r>
              <a:rPr lang="en-US" sz="2400" dirty="0" err="1">
                <a:solidFill>
                  <a:srgbClr val="343434"/>
                </a:solidFill>
                <a:latin typeface="Montserrat" panose="00000500000000000000" pitchFamily="2" charset="0"/>
              </a:rPr>
              <a:t>stok</a:t>
            </a:r>
            <a:r>
              <a:rPr lang="en-US" sz="2400" dirty="0">
                <a:solidFill>
                  <a:srgbClr val="343434"/>
                </a:solidFill>
                <a:latin typeface="Montserrat" panose="00000500000000000000" pitchFamily="2" charset="0"/>
              </a:rPr>
              <a:t> </a:t>
            </a:r>
            <a:r>
              <a:rPr lang="en-US" sz="2400" dirty="0" err="1">
                <a:solidFill>
                  <a:srgbClr val="343434"/>
                </a:solidFill>
                <a:latin typeface="Montserrat" panose="00000500000000000000" pitchFamily="2" charset="0"/>
              </a:rPr>
              <a:t>dagangan</a:t>
            </a:r>
            <a:r>
              <a:rPr lang="en-US" sz="2400" dirty="0">
                <a:solidFill>
                  <a:srgbClr val="343434"/>
                </a:solidFill>
                <a:latin typeface="Montserrat" panose="00000500000000000000" pitchFamily="2" charset="0"/>
              </a:rPr>
              <a:t> dan </a:t>
            </a:r>
            <a:r>
              <a:rPr lang="en-US" sz="2400" dirty="0" err="1">
                <a:solidFill>
                  <a:srgbClr val="343434"/>
                </a:solidFill>
                <a:latin typeface="Montserrat" panose="00000500000000000000" pitchFamily="2" charset="0"/>
              </a:rPr>
              <a:t>transaksi</a:t>
            </a:r>
            <a:r>
              <a:rPr lang="en-US" sz="2400" dirty="0">
                <a:solidFill>
                  <a:srgbClr val="343434"/>
                </a:solidFill>
                <a:latin typeface="Montserrat" panose="00000500000000000000" pitchFamily="2" charset="0"/>
              </a:rPr>
              <a:t> </a:t>
            </a:r>
            <a:r>
              <a:rPr lang="en-US" sz="2400" dirty="0" err="1">
                <a:solidFill>
                  <a:srgbClr val="343434"/>
                </a:solidFill>
                <a:latin typeface="Montserrat" panose="00000500000000000000" pitchFamily="2" charset="0"/>
              </a:rPr>
              <a:t>dengan</a:t>
            </a:r>
            <a:r>
              <a:rPr lang="en-US" sz="2400" dirty="0">
                <a:solidFill>
                  <a:srgbClr val="343434"/>
                </a:solidFill>
                <a:latin typeface="Montserrat" panose="00000500000000000000" pitchFamily="2" charset="0"/>
              </a:rPr>
              <a:t> </a:t>
            </a:r>
            <a:r>
              <a:rPr lang="en-US" sz="2400" dirty="0" err="1">
                <a:solidFill>
                  <a:srgbClr val="343434"/>
                </a:solidFill>
                <a:latin typeface="Montserrat" panose="00000500000000000000" pitchFamily="2" charset="0"/>
              </a:rPr>
              <a:t>lebih</a:t>
            </a:r>
            <a:r>
              <a:rPr lang="en-US" sz="2400" dirty="0">
                <a:solidFill>
                  <a:srgbClr val="343434"/>
                </a:solidFill>
                <a:latin typeface="Montserrat" panose="00000500000000000000" pitchFamily="2" charset="0"/>
              </a:rPr>
              <a:t> </a:t>
            </a:r>
            <a:r>
              <a:rPr lang="en-US" sz="2400" dirty="0" err="1">
                <a:solidFill>
                  <a:srgbClr val="343434"/>
                </a:solidFill>
                <a:latin typeface="Montserrat" panose="00000500000000000000" pitchFamily="2" charset="0"/>
              </a:rPr>
              <a:t>mudah</a:t>
            </a:r>
            <a:r>
              <a:rPr lang="en-US" sz="2400" dirty="0">
                <a:solidFill>
                  <a:srgbClr val="343434"/>
                </a:solidFill>
                <a:latin typeface="Montserrat" panose="00000500000000000000" pitchFamily="2" charset="0"/>
              </a:rPr>
              <a:t>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FCA4A70-4B18-7E86-FC88-18203B755A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4378" y="2407285"/>
            <a:ext cx="1837268" cy="413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707634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DC5DD39-44A1-3058-772E-7EF8243F34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8201" y="237030"/>
            <a:ext cx="8397169" cy="6297878"/>
          </a:xfr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9FD143D-27C2-5674-10E0-894139AB0450}"/>
              </a:ext>
            </a:extLst>
          </p:cNvPr>
          <p:cNvSpPr/>
          <p:nvPr/>
        </p:nvSpPr>
        <p:spPr>
          <a:xfrm>
            <a:off x="1870335" y="3429000"/>
            <a:ext cx="1452868" cy="21176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93B904-C51A-6FB4-0F84-7966DB06A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770" y="2723188"/>
            <a:ext cx="10515600" cy="1325563"/>
          </a:xfrm>
        </p:spPr>
        <p:txBody>
          <a:bodyPr/>
          <a:lstStyle/>
          <a:p>
            <a:r>
              <a:rPr lang="en-US" b="1" dirty="0" err="1">
                <a:solidFill>
                  <a:srgbClr val="343434"/>
                </a:solidFill>
                <a:latin typeface="Montserrat" panose="00000500000000000000" pitchFamily="2" charset="0"/>
              </a:rPr>
              <a:t>Usecase</a:t>
            </a:r>
            <a:endParaRPr lang="en-US" b="1" dirty="0">
              <a:solidFill>
                <a:srgbClr val="343434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7344613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8A427C00-D1D0-6F93-CE37-EBE86541B4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7301" y="2319814"/>
            <a:ext cx="2203049" cy="21057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193B904-C51A-6FB4-0F84-7966DB06A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574" y="1953929"/>
            <a:ext cx="3627922" cy="1074671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343434"/>
                </a:solidFill>
                <a:latin typeface="Montserrat" panose="00000500000000000000" pitchFamily="2" charset="0"/>
              </a:rPr>
              <a:t>Entity Relationship Diagram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5503B4C-7DCF-913C-494B-E80E1C16FE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6291" y="277076"/>
            <a:ext cx="10275050" cy="6285375"/>
          </a:xfrm>
        </p:spPr>
      </p:pic>
    </p:spTree>
    <p:extLst>
      <p:ext uri="{BB962C8B-B14F-4D97-AF65-F5344CB8AC3E}">
        <p14:creationId xmlns:p14="http://schemas.microsoft.com/office/powerpoint/2010/main" val="763822885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81C0CE1-FAC9-8737-94DD-EDD52A29A39F}"/>
              </a:ext>
            </a:extLst>
          </p:cNvPr>
          <p:cNvSpPr/>
          <p:nvPr/>
        </p:nvSpPr>
        <p:spPr>
          <a:xfrm>
            <a:off x="7123217" y="1027906"/>
            <a:ext cx="2482601" cy="3113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93B904-C51A-6FB4-0F84-7966DB06A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Montserrat" panose="00000500000000000000" pitchFamily="2" charset="0"/>
              </a:rPr>
              <a:t>Data Flow Diagram – Level 0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72D3235-ECC8-F4D6-4C48-64CC84B9F2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526" y="1934297"/>
            <a:ext cx="10128948" cy="4133994"/>
          </a:xfrm>
        </p:spPr>
      </p:pic>
    </p:spTree>
    <p:extLst>
      <p:ext uri="{BB962C8B-B14F-4D97-AF65-F5344CB8AC3E}">
        <p14:creationId xmlns:p14="http://schemas.microsoft.com/office/powerpoint/2010/main" val="3150656594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88DB068-984B-EBCE-6A78-EDA6E7FAE9C3}"/>
              </a:ext>
            </a:extLst>
          </p:cNvPr>
          <p:cNvSpPr/>
          <p:nvPr/>
        </p:nvSpPr>
        <p:spPr>
          <a:xfrm>
            <a:off x="890450" y="2069627"/>
            <a:ext cx="2153317" cy="30104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93B904-C51A-6FB4-0F84-7966DB06A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491" y="835388"/>
            <a:ext cx="3855720" cy="1325563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343434"/>
                </a:solidFill>
                <a:latin typeface="Montserrat" panose="00000500000000000000" pitchFamily="2" charset="0"/>
              </a:rPr>
              <a:t>Data Flow Diagram – Level 1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C30DD25-0A68-A7F5-2EF2-8BB01DCCAD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2473" y="374072"/>
            <a:ext cx="7094256" cy="6109855"/>
          </a:xfrm>
        </p:spPr>
      </p:pic>
    </p:spTree>
    <p:extLst>
      <p:ext uri="{BB962C8B-B14F-4D97-AF65-F5344CB8AC3E}">
        <p14:creationId xmlns:p14="http://schemas.microsoft.com/office/powerpoint/2010/main" val="734866583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6D4E523-99A2-B0A0-B028-1D63AE177D20}"/>
              </a:ext>
            </a:extLst>
          </p:cNvPr>
          <p:cNvSpPr/>
          <p:nvPr/>
        </p:nvSpPr>
        <p:spPr>
          <a:xfrm>
            <a:off x="7123986" y="1027906"/>
            <a:ext cx="2528014" cy="36909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93B904-C51A-6FB4-0F84-7966DB06A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343434"/>
                </a:solidFill>
                <a:latin typeface="Montserrat" panose="00000500000000000000" pitchFamily="2" charset="0"/>
              </a:rPr>
              <a:t>Data Flow Diagram – Level 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634490-D232-EB68-94BC-20AB4664A98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227"/>
          <a:stretch/>
        </p:blipFill>
        <p:spPr>
          <a:xfrm>
            <a:off x="1095203" y="2179783"/>
            <a:ext cx="10001593" cy="3064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123921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B1251610-561E-50C7-3249-65A1BD7DEF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6482" y="1058333"/>
            <a:ext cx="976601" cy="29633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193B904-C51A-6FB4-0F84-7966DB06A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Montserrat" panose="00000500000000000000" pitchFamily="2" charset="0"/>
              </a:rPr>
              <a:t>Mockup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23A6B9D-F822-07B5-A80F-96F082D8A4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6198" y="1690688"/>
            <a:ext cx="6954727" cy="3912034"/>
          </a:xfrm>
          <a:prstGeom prst="rect">
            <a:avLst/>
          </a:prstGeom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9985CD83-8200-F296-C6E3-92875B9F3B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05" r="10777"/>
          <a:stretch/>
        </p:blipFill>
        <p:spPr>
          <a:xfrm>
            <a:off x="1626668" y="3961931"/>
            <a:ext cx="2869953" cy="2050796"/>
          </a:xfrm>
        </p:spPr>
      </p:pic>
    </p:spTree>
    <p:extLst>
      <p:ext uri="{BB962C8B-B14F-4D97-AF65-F5344CB8AC3E}">
        <p14:creationId xmlns:p14="http://schemas.microsoft.com/office/powerpoint/2010/main" val="1664768784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B1251610-561E-50C7-3249-65A1BD7DEF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4755" y="1049624"/>
            <a:ext cx="2510312" cy="27407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193B904-C51A-6FB4-0F84-7966DB06A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343434"/>
                </a:solidFill>
                <a:latin typeface="Montserrat" panose="00000500000000000000" pitchFamily="2" charset="0"/>
              </a:rPr>
              <a:t>Link </a:t>
            </a:r>
            <a:r>
              <a:rPr lang="en-US" b="1" dirty="0" err="1">
                <a:solidFill>
                  <a:srgbClr val="343434"/>
                </a:solidFill>
                <a:latin typeface="Montserrat" panose="00000500000000000000" pitchFamily="2" charset="0"/>
              </a:rPr>
              <a:t>ke</a:t>
            </a:r>
            <a:r>
              <a:rPr lang="en-US" b="1" dirty="0">
                <a:solidFill>
                  <a:srgbClr val="343434"/>
                </a:solidFill>
                <a:latin typeface="Montserrat" panose="00000500000000000000" pitchFamily="2" charset="0"/>
              </a:rPr>
              <a:t> </a:t>
            </a:r>
            <a:r>
              <a:rPr lang="en-US" b="1" dirty="0" err="1">
                <a:solidFill>
                  <a:srgbClr val="343434"/>
                </a:solidFill>
                <a:latin typeface="Montserrat" panose="00000500000000000000" pitchFamily="2" charset="0"/>
              </a:rPr>
              <a:t>Aplikasi</a:t>
            </a:r>
            <a:endParaRPr lang="en-US" b="1" dirty="0">
              <a:solidFill>
                <a:srgbClr val="343434"/>
              </a:solidFill>
              <a:latin typeface="Montserrat" panose="00000500000000000000" pitchFamily="2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59A7AA-F2AC-FA72-2FCD-92ABE47FAC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3766" y="3084512"/>
            <a:ext cx="3564467" cy="688975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hlinkClick r:id="rId3"/>
              </a:rPr>
              <a:t>http://127.0.0.1:8000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7137908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9A22ED-4956-213F-E9AE-F2EC07D7C3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9820" y="3429000"/>
            <a:ext cx="3685647" cy="364067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D725A3-F239-7C72-3FA2-A37778A6F7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3033" y="3152246"/>
            <a:ext cx="5985933" cy="553508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4000" b="1" dirty="0" err="1">
                <a:latin typeface="Montserrat" panose="00000500000000000000" pitchFamily="2" charset="0"/>
              </a:rPr>
              <a:t>Sekian</a:t>
            </a:r>
            <a:r>
              <a:rPr lang="en-US" sz="4000" b="1" dirty="0">
                <a:latin typeface="Montserrat" panose="00000500000000000000" pitchFamily="2" charset="0"/>
              </a:rPr>
              <a:t>, </a:t>
            </a:r>
            <a:r>
              <a:rPr lang="en-US" sz="4000" b="1" dirty="0" err="1">
                <a:latin typeface="Montserrat" panose="00000500000000000000" pitchFamily="2" charset="0"/>
              </a:rPr>
              <a:t>Terimakasih</a:t>
            </a:r>
            <a:r>
              <a:rPr lang="en-US" sz="4000" b="1" dirty="0">
                <a:latin typeface="Montserrat" panose="00000500000000000000" pitchFamily="2" charset="0"/>
              </a:rPr>
              <a:t>.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296579444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</TotalTime>
  <Words>132</Words>
  <Application>Microsoft Office PowerPoint</Application>
  <PresentationFormat>Widescreen</PresentationFormat>
  <Paragraphs>14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Montserrat</vt:lpstr>
      <vt:lpstr>Office Theme</vt:lpstr>
      <vt:lpstr>Sistem Informasi Kantin Sekolah SMK Negeri 2 Surabaya</vt:lpstr>
      <vt:lpstr>Latar Belakang</vt:lpstr>
      <vt:lpstr>Usecase</vt:lpstr>
      <vt:lpstr>Entity Relationship Diagram</vt:lpstr>
      <vt:lpstr>Data Flow Diagram – Level 0</vt:lpstr>
      <vt:lpstr>Data Flow Diagram – Level 1</vt:lpstr>
      <vt:lpstr>Data Flow Diagram – Level 2</vt:lpstr>
      <vt:lpstr>Mockup</vt:lpstr>
      <vt:lpstr>Link ke Aplikasi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UKK Project</dc:title>
  <dc:creator>Rifqi Raehan</dc:creator>
  <cp:lastModifiedBy>Rifqi Raehan</cp:lastModifiedBy>
  <cp:revision>14</cp:revision>
  <dcterms:created xsi:type="dcterms:W3CDTF">2022-10-25T02:13:26Z</dcterms:created>
  <dcterms:modified xsi:type="dcterms:W3CDTF">2023-03-01T23:50:43Z</dcterms:modified>
</cp:coreProperties>
</file>